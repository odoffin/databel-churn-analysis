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4" d="100"/>
          <a:sy n="84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58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823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571500"/>
            <a:ext cx="40946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CHURN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51365" y="571500"/>
            <a:ext cx="34188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FY 2026 · CONFIDENTIAL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805237"/>
            <a:ext cx="7871461" cy="4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6063"/>
              </a:lnSpc>
              <a:buNone/>
            </a:pPr>
            <a:r>
              <a:rPr lang="en-US" sz="40000" i="1" kern="0" spc="-1620" dirty="0">
                <a:solidFill>
                  <a:srgbClr val="C841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26.9 </a:t>
            </a:r>
            <a:r>
              <a:rPr lang="en-US" sz="12960" i="1" kern="0" spc="-1620" dirty="0">
                <a:solidFill>
                  <a:srgbClr val="C841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40000" dirty="0"/>
          </a:p>
        </p:txBody>
      </p:sp>
      <p:sp>
        <p:nvSpPr>
          <p:cNvPr id="6" name="Text 4"/>
          <p:cNvSpPr/>
          <p:nvPr/>
        </p:nvSpPr>
        <p:spPr>
          <a:xfrm>
            <a:off x="9896921" y="1147763"/>
            <a:ext cx="766173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RATE · ANNUAL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96921" y="1838325"/>
            <a:ext cx="7661736" cy="434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400" kern="0" spc="-336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</a:t>
            </a:r>
            <a:r>
              <a:rPr lang="en-US" sz="8400" i="1" kern="0" spc="-336" dirty="0">
                <a:solidFill>
                  <a:srgbClr val="18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1,796 </a:t>
            </a:r>
            <a:r>
              <a:rPr lang="en-US" sz="8400" kern="0" spc="-336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left, and how to win them back.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9896921" y="6180235"/>
            <a:ext cx="7063740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50" i="1" dirty="0">
                <a:solidFill>
                  <a:srgbClr val="2A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6,687-customer cohort study across 29 variables, isolating the contract structures, segments and exit reasons that explain Databel's elevated churn.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896921" y="8140005"/>
            <a:ext cx="7438579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96921" y="8454330"/>
            <a:ext cx="230170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kern="0" spc="-96" dirty="0">
                <a:solidFill>
                  <a:srgbClr val="18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1,796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896921" y="9197280"/>
            <a:ext cx="1475259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96921" y="9497318"/>
            <a:ext cx="23017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03423" y="8454330"/>
            <a:ext cx="230170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kern="0" spc="-96" dirty="0">
                <a:solidFill>
                  <a:srgbClr val="18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$793K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503423" y="9197280"/>
            <a:ext cx="54255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026368" y="9159180"/>
            <a:ext cx="23017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 RISK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09924" y="8454330"/>
            <a:ext cx="230177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kern="0" spc="-96" dirty="0">
                <a:solidFill>
                  <a:srgbClr val="18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6,687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5109924" y="9197280"/>
            <a:ext cx="23017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</a:t>
            </a:r>
          </a:p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797355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9966423"/>
            <a:ext cx="61784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ADEWALE ODOFFIN · DATA &amp; BUSINESS ANALYST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872445" y="9966423"/>
            <a:ext cx="15392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APRIL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338293" y="857250"/>
            <a:ext cx="3729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ANALYSIS · 02 / 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816001"/>
            <a:ext cx="168744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01 / Framing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382738"/>
            <a:ext cx="14716125" cy="322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0" kern="0" spc="-607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business </a:t>
            </a:r>
            <a:r>
              <a:rPr lang="en-US" sz="13500" i="1" kern="0" spc="-607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problem.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952500" y="6518374"/>
            <a:ext cx="981075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i="1" dirty="0">
                <a:solidFill>
                  <a:srgbClr val="B8B2A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Databel Telecom is losing 26.9% of its customers annually, putting $793K in recurring revenue at risk. This section frames the scale and the financial stakes.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780360" y="5603974"/>
            <a:ext cx="4507640" cy="6019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0675"/>
              </a:lnSpc>
              <a:buNone/>
            </a:pPr>
            <a:r>
              <a:rPr lang="en-US" sz="40000" i="1" kern="0" spc="-2000" dirty="0">
                <a:solidFill>
                  <a:srgbClr val="F2EFE7">
                    <a:alpha val="8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40000" dirty="0"/>
          </a:p>
        </p:txBody>
      </p:sp>
      <p:sp>
        <p:nvSpPr>
          <p:cNvPr id="8" name="Shape 6"/>
          <p:cNvSpPr/>
          <p:nvPr/>
        </p:nvSpPr>
        <p:spPr>
          <a:xfrm>
            <a:off x="952500" y="88915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9129713"/>
            <a:ext cx="16855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94582" y="9129713"/>
            <a:ext cx="24171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FRAMING &amp; STAKES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361434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521502" y="857250"/>
            <a:ext cx="45067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&amp; ANALYTICAL QUESTION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290441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776413"/>
            <a:ext cx="13954795" cy="120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26.9%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Databel's churn sits above the industry's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18–25%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ceiling, and the cost compounds every month.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996145" y="2604641"/>
            <a:ext cx="23393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6,687 CUSTOMERS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3925" y="3642866"/>
            <a:ext cx="9525" cy="4462909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3833366"/>
            <a:ext cx="514405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321729"/>
            <a:ext cx="5144052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300" i="1" kern="0" spc="-540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26.9%</a:t>
            </a:r>
            <a:endParaRPr lang="en-US" sz="15300" dirty="0"/>
          </a:p>
        </p:txBody>
      </p:sp>
      <p:sp>
        <p:nvSpPr>
          <p:cNvPr id="11" name="Text 9"/>
          <p:cNvSpPr/>
          <p:nvPr/>
        </p:nvSpPr>
        <p:spPr>
          <a:xfrm>
            <a:off x="952500" y="6648004"/>
            <a:ext cx="451294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Industry benchmark: 18–25%. </a:t>
            </a:r>
            <a:r>
              <a:rPr lang="en-US" sz="19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Databel sits above the upper boundary, signalling structural, not cyclical loss.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864950" y="3642866"/>
            <a:ext cx="9525" cy="4462909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70650" y="3833366"/>
            <a:ext cx="46732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CUSTOMERS LOST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4805" y="4585159"/>
            <a:ext cx="4370689" cy="2152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0" i="1" kern="0" spc="-540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1,796</a:t>
            </a:r>
            <a:endParaRPr lang="en-US" sz="18000" dirty="0"/>
          </a:p>
        </p:txBody>
      </p:sp>
      <p:sp>
        <p:nvSpPr>
          <p:cNvPr id="15" name="Text 13"/>
          <p:cNvSpPr/>
          <p:nvPr/>
        </p:nvSpPr>
        <p:spPr>
          <a:xfrm>
            <a:off x="6870650" y="6648004"/>
            <a:ext cx="451294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 of 6,687 total. </a:t>
            </a:r>
            <a:r>
              <a:rPr lang="en-US" sz="19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Roughly one in four. The departures are not concentrated in a single quarter, they are continuous.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31675" y="3833366"/>
            <a:ext cx="515386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ANNUAL REV. AT RISK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31675" y="4395754"/>
            <a:ext cx="5116039" cy="194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300" i="1" kern="0" spc="-540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$793K</a:t>
            </a:r>
            <a:endParaRPr lang="en-US" sz="15300" dirty="0"/>
          </a:p>
        </p:txBody>
      </p:sp>
      <p:sp>
        <p:nvSpPr>
          <p:cNvPr id="18" name="Text 16"/>
          <p:cNvSpPr/>
          <p:nvPr/>
        </p:nvSpPr>
        <p:spPr>
          <a:xfrm>
            <a:off x="12331675" y="6648004"/>
            <a:ext cx="451294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$66,094 per month. </a:t>
            </a:r>
            <a:r>
              <a:rPr lang="en-US" sz="19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 at risk is the immediate cost; acquisition replacement cost compounds it further.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8715375"/>
            <a:ext cx="16383000" cy="714375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19200" y="9015413"/>
            <a:ext cx="114300" cy="114300"/>
          </a:xfrm>
          <a:prstGeom prst="ellipse">
            <a:avLst/>
          </a:prstGeom>
          <a:solidFill>
            <a:srgbClr val="F2EF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04950" y="8924925"/>
            <a:ext cx="102526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Databel's churn rate exceeds the industry average. Immediate retention intervention is required.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097295" y="857250"/>
            <a:ext cx="3729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ANALYSIS · 04 / 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339876"/>
            <a:ext cx="168744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02 / Where the risk lives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906613"/>
            <a:ext cx="14716125" cy="322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0" kern="0" spc="-607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Contract &amp; </a:t>
            </a:r>
            <a:r>
              <a:rPr lang="en-US" sz="13500" i="1" kern="0" spc="-607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competitor </a:t>
            </a:r>
            <a:r>
              <a:rPr lang="en-US" sz="13500" kern="0" spc="-607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analysis.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952500" y="7042249"/>
            <a:ext cx="98107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i="1" dirty="0">
                <a:solidFill>
                  <a:srgbClr val="B8B2A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the highest risk lives, and why customers are leaving.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269591" y="5256415"/>
            <a:ext cx="5932810" cy="5949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675"/>
              </a:lnSpc>
              <a:buNone/>
            </a:pPr>
            <a:r>
              <a:rPr lang="en-US" sz="40000" i="1" kern="0" spc="-2000" dirty="0">
                <a:solidFill>
                  <a:srgbClr val="F2EFE7">
                    <a:alpha val="8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40000" dirty="0"/>
          </a:p>
        </p:txBody>
      </p:sp>
      <p:sp>
        <p:nvSpPr>
          <p:cNvPr id="8" name="Shape 6"/>
          <p:cNvSpPr/>
          <p:nvPr/>
        </p:nvSpPr>
        <p:spPr>
          <a:xfrm>
            <a:off x="952500" y="88915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9129713"/>
            <a:ext cx="16855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263092" y="9129713"/>
            <a:ext cx="31645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CONTRACT &amp; COMPETITOR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39345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CONTRACT TYPE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88835" y="857250"/>
            <a:ext cx="264185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BY CONTRACT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290441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776413"/>
            <a:ext cx="11934471" cy="120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Month-to-month contracts drive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46%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—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16×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higher than two-year.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84126" y="2604641"/>
            <a:ext cx="43513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 LINE · COMPANY AVG 26.9%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642866"/>
            <a:ext cx="938559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Rate by Contract Type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4876800"/>
            <a:ext cx="198120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Month-to-Month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086100" y="4885879"/>
            <a:ext cx="5280273" cy="5334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40775" y="4923979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46.3%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589791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Year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086100" y="5805041"/>
            <a:ext cx="1288703" cy="5334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0775" y="5843141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52500" y="673611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Year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086100" y="6643241"/>
            <a:ext cx="319311" cy="5334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40775" y="6681341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2.8%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52500" y="7710041"/>
            <a:ext cx="9112225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7948166"/>
            <a:ext cx="93855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Distribution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8376791"/>
            <a:ext cx="9112225" cy="247650"/>
          </a:xfrm>
          <a:prstGeom prst="rect">
            <a:avLst/>
          </a:prstGeom>
          <a:ln w="9525">
            <a:solidFill>
              <a:srgbClr val="1816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2025" y="8386316"/>
            <a:ext cx="4637336" cy="2286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89836" y="8386316"/>
            <a:ext cx="9525" cy="2286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2465" y="8386316"/>
            <a:ext cx="47669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EF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M2M 51%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99361" y="8386316"/>
            <a:ext cx="2005831" cy="2286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95667" y="8386316"/>
            <a:ext cx="9525" cy="2286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61261" y="8386316"/>
            <a:ext cx="20725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EF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1-Year 22%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05192" y="8386316"/>
            <a:ext cx="2450009" cy="228600"/>
          </a:xfrm>
          <a:prstGeom prst="rect">
            <a:avLst/>
          </a:prstGeom>
          <a:solidFill>
            <a:srgbClr val="5F6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67092" y="8386316"/>
            <a:ext cx="25262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EF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2-Year 27%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26725" y="3642866"/>
            <a:ext cx="6508700" cy="4045223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07725" y="4023866"/>
            <a:ext cx="59191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07725" y="4495354"/>
            <a:ext cx="591910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16×</a:t>
            </a:r>
            <a:endParaRPr lang="en-US" sz="15000" dirty="0"/>
          </a:p>
        </p:txBody>
      </p:sp>
      <p:sp>
        <p:nvSpPr>
          <p:cNvPr id="32" name="Text 30"/>
          <p:cNvSpPr/>
          <p:nvPr/>
        </p:nvSpPr>
        <p:spPr>
          <a:xfrm>
            <a:off x="11207725" y="6381304"/>
            <a:ext cx="5919101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2EFE7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Higher churn on month-to-month vs two-year contracts. The contract structure itself is the largest predictor of departure.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826725" y="8069089"/>
            <a:ext cx="670396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2A27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contract migration campaign is the single highest-ROI retention lever available.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9105379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2500" y="9343504"/>
            <a:ext cx="1218456" cy="471488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95375" y="9429229"/>
            <a:ext cx="10089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323356" y="9431610"/>
            <a:ext cx="45626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Incentivise M2M → 1-Year upgrades in Q1.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26536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CATEGORY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37883" y="857250"/>
            <a:ext cx="49729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EXITS ATTRIBUTED BY STATED CAUSE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05113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876648"/>
            <a:ext cx="12711589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issues account for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45%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all exits.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61244" y="1776413"/>
            <a:ext cx="35742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1,769 EXITS WITH REASON TOP 5 CATEGORIES SHOWN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57538"/>
            <a:ext cx="5074890" cy="52197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09700" y="3690937"/>
            <a:ext cx="42853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144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 CHURN IS COMPETITOR-DRIVEN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9700" y="4912643"/>
            <a:ext cx="428530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1000" i="1" kern="0" spc="-630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44.8</a:t>
            </a:r>
            <a:r>
              <a:rPr lang="en-US" sz="9450" i="1" kern="0" spc="-630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21000" dirty="0"/>
          </a:p>
        </p:txBody>
      </p:sp>
      <p:sp>
        <p:nvSpPr>
          <p:cNvPr id="11" name="Text 9"/>
          <p:cNvSpPr/>
          <p:nvPr/>
        </p:nvSpPr>
        <p:spPr>
          <a:xfrm>
            <a:off x="1409700" y="6803752"/>
            <a:ext cx="428530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B8B2A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This is a product and pricing problem, not a service quality problem. Budget the product team, not the call centre.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98890" y="3579019"/>
            <a:ext cx="548428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Churned Customers by Exit Category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98890" y="4974431"/>
            <a:ext cx="5324549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98890" y="4483894"/>
            <a:ext cx="471038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  </a:t>
            </a:r>
            <a:r>
              <a:rPr lang="en-US" sz="15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805 exits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00681" y="4412456"/>
            <a:ext cx="5989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98890" y="5717381"/>
            <a:ext cx="5324549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98890" y="5226844"/>
            <a:ext cx="47582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Attitude   </a:t>
            </a:r>
            <a:r>
              <a:rPr lang="en-US" sz="15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287 exits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47190" y="5155406"/>
            <a:ext cx="552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16%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598890" y="6460331"/>
            <a:ext cx="5324549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98890" y="5969794"/>
            <a:ext cx="47582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Dissatisfaction   </a:t>
            </a:r>
            <a:r>
              <a:rPr lang="en-US" sz="15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286 exits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47190" y="5898356"/>
            <a:ext cx="552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16%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598890" y="7203281"/>
            <a:ext cx="5324549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98890" y="6712744"/>
            <a:ext cx="482221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Price   </a:t>
            </a:r>
            <a:r>
              <a:rPr lang="en-US" sz="15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exits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509251" y="6641306"/>
            <a:ext cx="4903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11%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598890" y="7946231"/>
            <a:ext cx="5324549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98890" y="7455694"/>
            <a:ext cx="482221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   </a:t>
            </a:r>
            <a:r>
              <a:rPr lang="en-US" sz="15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191 exits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509251" y="7384256"/>
            <a:ext cx="4903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494940" y="4260056"/>
            <a:ext cx="49857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BUDGET IMPLICATION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494940" y="5684044"/>
            <a:ext cx="484056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494940" y="5112544"/>
            <a:ext cx="1123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45%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3733190" y="5191125"/>
            <a:ext cx="126734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038636" y="5157788"/>
            <a:ext cx="229686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&amp; Pricing Team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2494940" y="6474619"/>
            <a:ext cx="484056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494940" y="5903119"/>
            <a:ext cx="1123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16%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13733190" y="5981700"/>
            <a:ext cx="14825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253841" y="5948363"/>
            <a:ext cx="208165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CS Quality &amp; Training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2494940" y="7265194"/>
            <a:ext cx="484056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494940" y="6693694"/>
            <a:ext cx="1123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11%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13733190" y="6772275"/>
            <a:ext cx="112863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899928" y="6738938"/>
            <a:ext cx="243557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 Restructure Review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952500" y="872013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2500" y="8958263"/>
            <a:ext cx="1218456" cy="471488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95375" y="9043988"/>
            <a:ext cx="10089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323356" y="9046369"/>
            <a:ext cx="73894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Commission competitive benchmarking vs top 3 rivals in OH, WV, OR.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217357" y="819149"/>
            <a:ext cx="3729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 ANALYSIS · 07 / 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866579"/>
            <a:ext cx="168744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03 / Who is leaving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433316"/>
            <a:ext cx="14716125" cy="1643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0" kern="0" spc="-607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Segment </a:t>
            </a:r>
            <a:r>
              <a:rPr lang="en-US" sz="13500" i="1" kern="0" spc="-607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deep-dive.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952500" y="5991671"/>
            <a:ext cx="98107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i="1" dirty="0">
                <a:solidFill>
                  <a:srgbClr val="B8B2A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Who is churning — by age group, geography, and specific exit reason.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420748" y="5305870"/>
            <a:ext cx="7981903" cy="747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675"/>
              </a:lnSpc>
              <a:buNone/>
            </a:pPr>
            <a:r>
              <a:rPr lang="en-US" sz="40000" i="1" kern="0" spc="-2000" dirty="0">
                <a:solidFill>
                  <a:srgbClr val="F2EFE7">
                    <a:alpha val="8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40000" dirty="0"/>
          </a:p>
        </p:txBody>
      </p:sp>
      <p:sp>
        <p:nvSpPr>
          <p:cNvPr id="8" name="Shape 6"/>
          <p:cNvSpPr/>
          <p:nvPr/>
        </p:nvSpPr>
        <p:spPr>
          <a:xfrm>
            <a:off x="952500" y="88915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9129713"/>
            <a:ext cx="197822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94582" y="9129713"/>
            <a:ext cx="24171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SEGMENT ANALYSIS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361434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 SEGMENT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3280916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1776413"/>
            <a:ext cx="12866952" cy="119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60+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at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34.4%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the highest-risk segment.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916607" y="2252216"/>
            <a:ext cx="34188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FOUR-BUCKET AGE COHORT TOTAL CUSTOMERS 6,687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3633341"/>
            <a:ext cx="965377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Rate by Age Group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038154"/>
            <a:ext cx="965377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 LINE AT COMPANY AVERAGE 26.9%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488826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 30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086100" y="4795391"/>
            <a:ext cx="2742754" cy="5334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42177" y="4860578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23.0%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52500" y="572646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 – 44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086100" y="5633591"/>
            <a:ext cx="2862039" cy="5334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42177" y="5698778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24.0%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52500" y="656466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45 – 59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086100" y="6471791"/>
            <a:ext cx="2981325" cy="5334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42177" y="6536978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25.0%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52500" y="7402860"/>
            <a:ext cx="1981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60+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086100" y="7309991"/>
            <a:ext cx="4102298" cy="5334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42177" y="7375178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3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34.4%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087100" y="3633341"/>
            <a:ext cx="6248400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87100" y="3776216"/>
            <a:ext cx="643585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60+ CHURN 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087100" y="4050278"/>
            <a:ext cx="643585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3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34.4%</a:t>
            </a:r>
            <a:endParaRPr lang="en-US" sz="5300" dirty="0"/>
          </a:p>
        </p:txBody>
      </p:sp>
      <p:sp>
        <p:nvSpPr>
          <p:cNvPr id="24" name="Text 22"/>
          <p:cNvSpPr/>
          <p:nvPr/>
        </p:nvSpPr>
        <p:spPr>
          <a:xfrm>
            <a:off x="11087100" y="4933504"/>
            <a:ext cx="64358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vs 26.9% company average — 28% above baseline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087100" y="5409754"/>
            <a:ext cx="6248400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87100" y="5552629"/>
            <a:ext cx="643585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60+ CUSTOMERS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087100" y="5928866"/>
            <a:ext cx="643585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1,793</a:t>
            </a:r>
            <a:endParaRPr lang="en-US" sz="5700" dirty="0"/>
          </a:p>
        </p:txBody>
      </p:sp>
      <p:sp>
        <p:nvSpPr>
          <p:cNvPr id="28" name="Text 26"/>
          <p:cNvSpPr/>
          <p:nvPr/>
        </p:nvSpPr>
        <p:spPr>
          <a:xfrm>
            <a:off x="11087100" y="6709916"/>
            <a:ext cx="64358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customers in segment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087100" y="7186166"/>
            <a:ext cx="6248400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087100" y="7329041"/>
            <a:ext cx="643585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LOST FROM SEGMENT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087100" y="7770454"/>
            <a:ext cx="643585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616</a:t>
            </a:r>
            <a:endParaRPr lang="en-US" sz="5700" dirty="0"/>
          </a:p>
        </p:txBody>
      </p:sp>
      <p:sp>
        <p:nvSpPr>
          <p:cNvPr id="32" name="Text 30"/>
          <p:cNvSpPr/>
          <p:nvPr/>
        </p:nvSpPr>
        <p:spPr>
          <a:xfrm>
            <a:off x="11087100" y="8486329"/>
            <a:ext cx="64358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churned from 60+ cohort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87100" y="8817768"/>
            <a:ext cx="6248400" cy="1319211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293397" y="8800654"/>
            <a:ext cx="596493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RETENTION APPROACH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864721" y="9272141"/>
            <a:ext cx="9525" cy="35622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293397" y="9195941"/>
            <a:ext cx="160637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Simplified plans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4997428" y="9272141"/>
            <a:ext cx="9525" cy="35622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061698" y="9195941"/>
            <a:ext cx="1970782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Phone-led outreach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6827609" y="9272141"/>
            <a:ext cx="9525" cy="35622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5194405" y="9195941"/>
            <a:ext cx="155376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support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293397" y="9628361"/>
            <a:ext cx="1145158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Loyalty tier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52500" y="10870406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2500" y="11108531"/>
            <a:ext cx="1218456" cy="471488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5375" y="11194256"/>
            <a:ext cx="10089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323356" y="11196638"/>
            <a:ext cx="7608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 dedicated 60+ retention programme with phone-led outreach.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377445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VERBATIM EXIT REASONS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653679" y="857250"/>
            <a:ext cx="59053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 </a:t>
            </a: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80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COMPETITOR-DRIVEN </a:t>
            </a: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GREY = OTHER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296156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776413"/>
            <a:ext cx="12089987" cy="119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Better </a:t>
            </a:r>
            <a:r>
              <a:rPr lang="en-US" sz="4200" i="1" kern="0" spc="-105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offers </a:t>
            </a:r>
            <a:r>
              <a:rPr lang="en-US" sz="4200" kern="0" spc="-105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 better </a:t>
            </a:r>
            <a:r>
              <a:rPr lang="en-US" sz="4200" i="1" kern="0" spc="-105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devices </a:t>
            </a:r>
            <a:r>
              <a:rPr lang="en-US" sz="4200" kern="0" spc="-105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are the top exit reasons.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139642" y="2595116"/>
            <a:ext cx="41958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10 OF 12 STATED REASONS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33819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384765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28750" y="3838129"/>
            <a:ext cx="321095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made better offer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28750" y="4276279"/>
            <a:ext cx="6400800" cy="381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24800" y="380479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303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0" y="433819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0" y="384765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01250" y="3838129"/>
            <a:ext cx="33397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had better devices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01250" y="4276279"/>
            <a:ext cx="6272733" cy="381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97300" y="380479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297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52500" y="5052566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4562029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28750" y="4552504"/>
            <a:ext cx="28940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Attitude of support person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28750" y="4990654"/>
            <a:ext cx="4288482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24800" y="4519166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203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9525000" y="5052566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0" y="4562029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001250" y="4552504"/>
            <a:ext cx="12788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know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01250" y="4990654"/>
            <a:ext cx="2624286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97300" y="4519166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123</a:t>
            </a:r>
            <a:endParaRPr lang="en-US" sz="2850" dirty="0"/>
          </a:p>
        </p:txBody>
      </p:sp>
      <p:sp>
        <p:nvSpPr>
          <p:cNvPr id="28" name="Shape 26"/>
          <p:cNvSpPr/>
          <p:nvPr/>
        </p:nvSpPr>
        <p:spPr>
          <a:xfrm>
            <a:off x="952500" y="576694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2500" y="527640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28750" y="5266879"/>
            <a:ext cx="325471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offered more data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28750" y="5705029"/>
            <a:ext cx="2304231" cy="381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24800" y="523354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110</a:t>
            </a:r>
            <a:endParaRPr lang="en-US" sz="2850" dirty="0"/>
          </a:p>
        </p:txBody>
      </p:sp>
      <p:sp>
        <p:nvSpPr>
          <p:cNvPr id="33" name="Shape 31"/>
          <p:cNvSpPr/>
          <p:nvPr/>
        </p:nvSpPr>
        <p:spPr>
          <a:xfrm>
            <a:off x="9525000" y="576694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25000" y="527640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001250" y="5266879"/>
            <a:ext cx="35721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41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offered higher speed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001250" y="5705029"/>
            <a:ext cx="1984177" cy="38100"/>
          </a:xfrm>
          <a:prstGeom prst="rect">
            <a:avLst/>
          </a:prstGeom>
          <a:solidFill>
            <a:srgbClr val="C84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497300" y="523354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95</a:t>
            </a:r>
            <a:endParaRPr lang="en-US" sz="2850" dirty="0"/>
          </a:p>
        </p:txBody>
      </p:sp>
      <p:sp>
        <p:nvSpPr>
          <p:cNvPr id="38" name="Shape 36"/>
          <p:cNvSpPr/>
          <p:nvPr/>
        </p:nvSpPr>
        <p:spPr>
          <a:xfrm>
            <a:off x="952500" y="6481316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52500" y="5990779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28750" y="5981254"/>
            <a:ext cx="29866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Attitude of service provider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428750" y="6419404"/>
            <a:ext cx="1792188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24800" y="5947916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84</a:t>
            </a:r>
            <a:endParaRPr lang="en-US" sz="2850" dirty="0"/>
          </a:p>
        </p:txBody>
      </p:sp>
      <p:sp>
        <p:nvSpPr>
          <p:cNvPr id="43" name="Shape 41"/>
          <p:cNvSpPr/>
          <p:nvPr/>
        </p:nvSpPr>
        <p:spPr>
          <a:xfrm>
            <a:off x="9525000" y="6481316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525000" y="5990779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001250" y="5981254"/>
            <a:ext cx="1550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Price too high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001250" y="6419404"/>
            <a:ext cx="1536129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497300" y="5947916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74</a:t>
            </a:r>
            <a:endParaRPr lang="en-US" sz="2850" dirty="0"/>
          </a:p>
        </p:txBody>
      </p:sp>
      <p:sp>
        <p:nvSpPr>
          <p:cNvPr id="48" name="Shape 46"/>
          <p:cNvSpPr/>
          <p:nvPr/>
        </p:nvSpPr>
        <p:spPr>
          <a:xfrm>
            <a:off x="952500" y="719569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2500" y="670515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428750" y="6695629"/>
            <a:ext cx="25518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dissatisfaction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28750" y="7133779"/>
            <a:ext cx="1536129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924800" y="666229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73</a:t>
            </a:r>
            <a:endParaRPr lang="en-US" sz="2850" dirty="0"/>
          </a:p>
        </p:txBody>
      </p:sp>
      <p:sp>
        <p:nvSpPr>
          <p:cNvPr id="53" name="Shape 51"/>
          <p:cNvSpPr/>
          <p:nvPr/>
        </p:nvSpPr>
        <p:spPr>
          <a:xfrm>
            <a:off x="9525000" y="7195691"/>
            <a:ext cx="7810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525000" y="6705154"/>
            <a:ext cx="38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0001250" y="6695629"/>
            <a:ext cx="20364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Network reliability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001250" y="7133779"/>
            <a:ext cx="1472133" cy="381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497300" y="6662291"/>
            <a:ext cx="838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8A857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69</a:t>
            </a:r>
            <a:endParaRPr lang="en-US" sz="2850" dirty="0"/>
          </a:p>
        </p:txBody>
      </p:sp>
      <p:sp>
        <p:nvSpPr>
          <p:cNvPr id="58" name="Shape 56"/>
          <p:cNvSpPr/>
          <p:nvPr/>
        </p:nvSpPr>
        <p:spPr>
          <a:xfrm>
            <a:off x="952500" y="872013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2500" y="8958263"/>
            <a:ext cx="1218456" cy="471488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95375" y="9043988"/>
            <a:ext cx="10089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2323356" y="9046369"/>
            <a:ext cx="72584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two reasons = 600 exits. Brief product + pricing team this week.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345422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GEOGRAPHIC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61851" y="857250"/>
            <a:ext cx="419585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HIGHEST-VOLUME CHURN STATES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280916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776413"/>
            <a:ext cx="16285845" cy="119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is concentrated in </a:t>
            </a:r>
            <a:r>
              <a:rPr lang="en-US" sz="4200" i="1" kern="0" spc="-105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OH, WV &amp; OR </a:t>
            </a:r>
            <a:r>
              <a:rPr lang="en-US" sz="4200" kern="0" spc="-10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investigate regional competitors.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2500" y="4109591"/>
            <a:ext cx="1115913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3747641"/>
            <a:ext cx="8873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68413" y="4109591"/>
            <a:ext cx="1115913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4613" y="3747641"/>
            <a:ext cx="8873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84327" y="4109591"/>
            <a:ext cx="1419448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0527" y="3747641"/>
            <a:ext cx="11908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03775" y="4109591"/>
            <a:ext cx="1146646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79975" y="3747641"/>
            <a:ext cx="9180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50421" y="4109591"/>
            <a:ext cx="2481858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26621" y="3747641"/>
            <a:ext cx="22532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REV. LOST / MO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32279" y="4109591"/>
            <a:ext cx="2149971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8479" y="3747641"/>
            <a:ext cx="1921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2500" y="495731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4900" y="432866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OH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2068413" y="495731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44613" y="432866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158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184327" y="4957316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31926" y="4328666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55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603775" y="4957316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79975" y="4328666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34.8%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5750421" y="4957316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26621" y="4328666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$2,024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232279" y="4957316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15847" y="4364385"/>
            <a:ext cx="714003" cy="361950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63472" y="4431060"/>
            <a:ext cx="5425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52500" y="580504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04900" y="517639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WV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2068413" y="580504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44613" y="517639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213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3184327" y="5805041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31926" y="5176391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57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4603775" y="5805041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79975" y="5176391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26.8%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5750421" y="5805041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26621" y="5176391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$2,098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8232279" y="5805041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15847" y="5212110"/>
            <a:ext cx="714003" cy="361950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563472" y="5278785"/>
            <a:ext cx="5425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52500" y="665276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04900" y="602411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2068413" y="665276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44613" y="602411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156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3184327" y="6652766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031926" y="6024116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48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4603775" y="6652766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79975" y="6024116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30.8%</a:t>
            </a:r>
            <a:endParaRPr lang="en-US" sz="2550" dirty="0"/>
          </a:p>
        </p:txBody>
      </p:sp>
      <p:sp>
        <p:nvSpPr>
          <p:cNvPr id="53" name="Shape 51"/>
          <p:cNvSpPr/>
          <p:nvPr/>
        </p:nvSpPr>
        <p:spPr>
          <a:xfrm>
            <a:off x="5750421" y="6652766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26621" y="6024116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$1,766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8232279" y="6652766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515847" y="6059835"/>
            <a:ext cx="714003" cy="361950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563472" y="6126510"/>
            <a:ext cx="5425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52500" y="750049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04900" y="687184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MD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2068413" y="750049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144613" y="687184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140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3184327" y="7500491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031926" y="6871841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46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4603775" y="7500491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79975" y="6871841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32.9%</a:t>
            </a:r>
            <a:endParaRPr lang="en-US" sz="2550" dirty="0"/>
          </a:p>
        </p:txBody>
      </p:sp>
      <p:sp>
        <p:nvSpPr>
          <p:cNvPr id="66" name="Shape 64"/>
          <p:cNvSpPr/>
          <p:nvPr/>
        </p:nvSpPr>
        <p:spPr>
          <a:xfrm>
            <a:off x="5750421" y="7500491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826621" y="6871841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$1,693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8232279" y="7500491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282633" y="6907560"/>
            <a:ext cx="947217" cy="361950"/>
          </a:xfrm>
          <a:prstGeom prst="rect">
            <a:avLst/>
          </a:prstGeom>
          <a:ln w="9525">
            <a:solidFill>
              <a:srgbClr val="1816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330258" y="6974235"/>
            <a:ext cx="775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52500" y="834821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104900" y="771956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2068413" y="8348216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144613" y="7719566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161</a:t>
            </a:r>
            <a:endParaRPr lang="en-US" sz="1950" dirty="0"/>
          </a:p>
        </p:txBody>
      </p:sp>
      <p:sp>
        <p:nvSpPr>
          <p:cNvPr id="75" name="Shape 73"/>
          <p:cNvSpPr/>
          <p:nvPr/>
        </p:nvSpPr>
        <p:spPr>
          <a:xfrm>
            <a:off x="3184327" y="8348216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031926" y="7719566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46</a:t>
            </a:r>
            <a:endParaRPr lang="en-US" sz="1950" dirty="0"/>
          </a:p>
        </p:txBody>
      </p:sp>
      <p:sp>
        <p:nvSpPr>
          <p:cNvPr id="77" name="Shape 75"/>
          <p:cNvSpPr/>
          <p:nvPr/>
        </p:nvSpPr>
        <p:spPr>
          <a:xfrm>
            <a:off x="4603775" y="8348216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679975" y="7719566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28.6%</a:t>
            </a:r>
            <a:endParaRPr lang="en-US" sz="2550" dirty="0"/>
          </a:p>
        </p:txBody>
      </p:sp>
      <p:sp>
        <p:nvSpPr>
          <p:cNvPr id="79" name="Shape 77"/>
          <p:cNvSpPr/>
          <p:nvPr/>
        </p:nvSpPr>
        <p:spPr>
          <a:xfrm>
            <a:off x="5750421" y="8348216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826621" y="7719566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$1,693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8232279" y="8348216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9282633" y="7755285"/>
            <a:ext cx="947217" cy="361950"/>
          </a:xfrm>
          <a:prstGeom prst="rect">
            <a:avLst/>
          </a:prstGeom>
          <a:ln w="9525">
            <a:solidFill>
              <a:srgbClr val="1816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330258" y="7821960"/>
            <a:ext cx="775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952500" y="919594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104900" y="856729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</a:t>
            </a:r>
            <a:endParaRPr lang="en-US" sz="2250" dirty="0"/>
          </a:p>
        </p:txBody>
      </p:sp>
      <p:sp>
        <p:nvSpPr>
          <p:cNvPr id="86" name="Shape 84"/>
          <p:cNvSpPr/>
          <p:nvPr/>
        </p:nvSpPr>
        <p:spPr>
          <a:xfrm>
            <a:off x="2068413" y="9195941"/>
            <a:ext cx="1115913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144613" y="8567291"/>
            <a:ext cx="8873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68</a:t>
            </a:r>
            <a:endParaRPr lang="en-US" sz="1950" dirty="0"/>
          </a:p>
        </p:txBody>
      </p:sp>
      <p:sp>
        <p:nvSpPr>
          <p:cNvPr id="88" name="Shape 86"/>
          <p:cNvSpPr/>
          <p:nvPr/>
        </p:nvSpPr>
        <p:spPr>
          <a:xfrm>
            <a:off x="3184327" y="9195941"/>
            <a:ext cx="141944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031926" y="8567291"/>
            <a:ext cx="11908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43</a:t>
            </a:r>
            <a:endParaRPr lang="en-US" sz="1950" dirty="0"/>
          </a:p>
        </p:txBody>
      </p:sp>
      <p:sp>
        <p:nvSpPr>
          <p:cNvPr id="90" name="Shape 88"/>
          <p:cNvSpPr/>
          <p:nvPr/>
        </p:nvSpPr>
        <p:spPr>
          <a:xfrm>
            <a:off x="4603775" y="9195941"/>
            <a:ext cx="1146646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679975" y="8567291"/>
            <a:ext cx="9180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63.2%</a:t>
            </a:r>
            <a:endParaRPr lang="en-US" sz="2550" dirty="0"/>
          </a:p>
        </p:txBody>
      </p:sp>
      <p:sp>
        <p:nvSpPr>
          <p:cNvPr id="92" name="Shape 90"/>
          <p:cNvSpPr/>
          <p:nvPr/>
        </p:nvSpPr>
        <p:spPr>
          <a:xfrm>
            <a:off x="5750421" y="9195941"/>
            <a:ext cx="2481858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826621" y="8567291"/>
            <a:ext cx="2253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$1,582</a:t>
            </a:r>
            <a:endParaRPr lang="en-US" sz="1950" dirty="0"/>
          </a:p>
        </p:txBody>
      </p:sp>
      <p:sp>
        <p:nvSpPr>
          <p:cNvPr id="94" name="Shape 92"/>
          <p:cNvSpPr/>
          <p:nvPr/>
        </p:nvSpPr>
        <p:spPr>
          <a:xfrm>
            <a:off x="8232279" y="9195941"/>
            <a:ext cx="214997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699748" y="8603010"/>
            <a:ext cx="1530102" cy="361950"/>
          </a:xfrm>
          <a:prstGeom prst="rect">
            <a:avLst/>
          </a:prstGeom>
          <a:ln w="9525">
            <a:solidFill>
              <a:srgbClr val="5F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747373" y="8669685"/>
            <a:ext cx="13586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108" dirty="0">
                <a:solidFill>
                  <a:srgbClr val="5F6B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INVESTIGATE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11049000" y="3633341"/>
            <a:ext cx="6286500" cy="2907804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1353800" y="3938141"/>
            <a:ext cx="5847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ANALYST NOTE — SAMPLE SIZE MATTERS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1353800" y="4371529"/>
            <a:ext cx="58472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63.2% </a:t>
            </a:r>
            <a:r>
              <a:rPr lang="en-US" sz="1800" dirty="0">
                <a:solidFill>
                  <a:srgbClr val="8A85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only 68 customers</a:t>
            </a:r>
            <a:endParaRPr lang="en-US" sz="4200" dirty="0"/>
          </a:p>
        </p:txBody>
      </p:sp>
      <p:sp>
        <p:nvSpPr>
          <p:cNvPr id="100" name="Text 98"/>
          <p:cNvSpPr/>
          <p:nvPr/>
        </p:nvSpPr>
        <p:spPr>
          <a:xfrm>
            <a:off x="11353800" y="5076379"/>
            <a:ext cx="584720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 shows the highest rate, but a handful of decisions swings a small-population rate dramatically. </a:t>
            </a:r>
            <a:r>
              <a:rPr lang="en-US" sz="1575" b="1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OH, WV &amp; OR </a:t>
            </a:r>
            <a:r>
              <a:rPr lang="en-US" sz="1575" dirty="0">
                <a:solidFill>
                  <a:srgbClr val="2A272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have elevated rates AND large bases — statistically reliable priorities.</a:t>
            </a:r>
            <a:endParaRPr lang="en-US" sz="1575" dirty="0"/>
          </a:p>
        </p:txBody>
      </p:sp>
      <p:sp>
        <p:nvSpPr>
          <p:cNvPr id="101" name="Shape 99"/>
          <p:cNvSpPr/>
          <p:nvPr/>
        </p:nvSpPr>
        <p:spPr>
          <a:xfrm>
            <a:off x="11049000" y="6884045"/>
            <a:ext cx="6286500" cy="9525"/>
          </a:xfrm>
          <a:prstGeom prst="rect">
            <a:avLst/>
          </a:prstGeom>
          <a:solidFill>
            <a:srgbClr val="18161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1049000" y="7122170"/>
            <a:ext cx="64750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PRIORITISATION FRAMEWORK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1049000" y="8112770"/>
            <a:ext cx="6286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1049000" y="7727007"/>
            <a:ext cx="513056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rate + High volume</a:t>
            </a:r>
            <a:endParaRPr lang="en-US" sz="1500" dirty="0"/>
          </a:p>
        </p:txBody>
      </p:sp>
      <p:sp>
        <p:nvSpPr>
          <p:cNvPr id="105" name="Text 103"/>
          <p:cNvSpPr/>
          <p:nvPr/>
        </p:nvSpPr>
        <p:spPr>
          <a:xfrm>
            <a:off x="16220629" y="7727007"/>
            <a:ext cx="119107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ACT NOW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11049000" y="8641407"/>
            <a:ext cx="6286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1049000" y="8255645"/>
            <a:ext cx="462040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rate + Low volume</a:t>
            </a:r>
            <a:endParaRPr lang="en-US" sz="1500" dirty="0"/>
          </a:p>
        </p:txBody>
      </p:sp>
      <p:sp>
        <p:nvSpPr>
          <p:cNvPr id="108" name="Text 106"/>
          <p:cNvSpPr/>
          <p:nvPr/>
        </p:nvSpPr>
        <p:spPr>
          <a:xfrm>
            <a:off x="15725329" y="8255645"/>
            <a:ext cx="168637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INVESTIGATE</a:t>
            </a:r>
            <a:endParaRPr lang="en-US" sz="1500" dirty="0"/>
          </a:p>
        </p:txBody>
      </p:sp>
      <p:sp>
        <p:nvSpPr>
          <p:cNvPr id="109" name="Shape 107"/>
          <p:cNvSpPr/>
          <p:nvPr/>
        </p:nvSpPr>
        <p:spPr>
          <a:xfrm>
            <a:off x="11049000" y="9170045"/>
            <a:ext cx="62865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1049000" y="8784282"/>
            <a:ext cx="39827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 rate + High volume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15106204" y="8784282"/>
            <a:ext cx="23054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PROTECT &amp; RETAIN</a:t>
            </a:r>
            <a:endParaRPr lang="en-US" sz="1500" dirty="0"/>
          </a:p>
        </p:txBody>
      </p:sp>
      <p:sp>
        <p:nvSpPr>
          <p:cNvPr id="112" name="Shape 110"/>
          <p:cNvSpPr/>
          <p:nvPr/>
        </p:nvSpPr>
        <p:spPr>
          <a:xfrm>
            <a:off x="952500" y="9553129"/>
            <a:ext cx="16383000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952500" y="9791254"/>
            <a:ext cx="1218456" cy="471488"/>
          </a:xfrm>
          <a:prstGeom prst="rect">
            <a:avLst/>
          </a:prstGeom>
          <a:ln w="9525">
            <a:solidFill>
              <a:srgbClr val="C84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095375" y="9876979"/>
            <a:ext cx="10089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84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2323356" y="9879360"/>
            <a:ext cx="7232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Assign regional retention leads to OH, WV, OR markets immediately.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3988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44148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2EF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39603" y="857250"/>
            <a:ext cx="52837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RANKED BY REVENUE IMPACT · 11 / 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05113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1876648"/>
            <a:ext cx="13177753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kern="0" spc="-105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priority actions, ranked by </a:t>
            </a:r>
            <a:r>
              <a:rPr lang="en-US" sz="4200" i="1" kern="0" spc="-105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revenue impact.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227408" y="1776413"/>
            <a:ext cx="310809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COMBINED TARGET $400K+ ARR PROTECTED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57538"/>
            <a:ext cx="5206975" cy="5477619"/>
          </a:xfrm>
          <a:prstGeom prst="rect">
            <a:avLst/>
          </a:prstGeom>
          <a:solidFill>
            <a:srgbClr val="211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33500" y="3614738"/>
            <a:ext cx="4578324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2000" i="1" kern="0" spc="-360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1333500" y="5176838"/>
            <a:ext cx="4578324" cy="83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54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Launch contract </a:t>
            </a:r>
            <a:r>
              <a:rPr lang="en-US" sz="2700" i="1" kern="0" spc="-54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migration </a:t>
            </a:r>
            <a:r>
              <a:rPr lang="en-US" sz="2700" kern="0" spc="-54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campaign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333500" y="6236940"/>
            <a:ext cx="457832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C8C2B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 3,411 month-to-month customers with incentives to upgrade to 1-year contracts. Even 10% conversion reduces churn from 46.3% → 11.3% for that cohort.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333500" y="7663607"/>
            <a:ext cx="44449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33500" y="7901732"/>
            <a:ext cx="45783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E8A8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~$150K+ ARR PROTECTED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40475" y="3157538"/>
            <a:ext cx="5206975" cy="5477619"/>
          </a:xfrm>
          <a:prstGeom prst="rect">
            <a:avLst/>
          </a:prstGeom>
          <a:solidFill>
            <a:srgbClr val="211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21475" y="3614738"/>
            <a:ext cx="4578324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2000" i="1" kern="0" spc="-360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6921475" y="5176838"/>
            <a:ext cx="4578324" cy="83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54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Commission competitive </a:t>
            </a:r>
            <a:r>
              <a:rPr lang="en-US" sz="2700" i="1" kern="0" spc="-54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benchmarking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921475" y="6236940"/>
            <a:ext cx="457832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C8C2B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and pricing teams must review top 3 rivals in OH, WV &amp; OR. "Better offer" + "better devices" = 600 exits — specific and immediately actionable.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6921475" y="7663607"/>
            <a:ext cx="44449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1475" y="7901732"/>
            <a:ext cx="45783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E8A8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ADDRESSES 45% OF CHURN CAUSE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128450" y="3157538"/>
            <a:ext cx="5207050" cy="5477619"/>
          </a:xfrm>
          <a:prstGeom prst="rect">
            <a:avLst/>
          </a:prstGeom>
          <a:solidFill>
            <a:srgbClr val="211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509450" y="3614738"/>
            <a:ext cx="4578401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2000" i="1" kern="0" spc="-360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12000" dirty="0"/>
          </a:p>
        </p:txBody>
      </p:sp>
      <p:sp>
        <p:nvSpPr>
          <p:cNvPr id="22" name="Text 20"/>
          <p:cNvSpPr/>
          <p:nvPr/>
        </p:nvSpPr>
        <p:spPr>
          <a:xfrm>
            <a:off x="12509450" y="5176838"/>
            <a:ext cx="4578401" cy="83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54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</a:t>
            </a:r>
            <a:r>
              <a:rPr lang="en-US" sz="2700" i="1" kern="0" spc="-54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senior </a:t>
            </a:r>
            <a:r>
              <a:rPr lang="en-US" sz="2700" kern="0" spc="-54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retention programme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509450" y="6236940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C8C2B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Customers 60+ churn at 34.4% — 59% above baseline. Simplified plans, phone-led outreach, and a loyalty tier. Standard digital campaigns underperform here.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509450" y="7663607"/>
            <a:ext cx="4445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509450" y="7901732"/>
            <a:ext cx="4578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E8A8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TARGET: 616 AT-RISK CUSTOMERS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52500" y="9244757"/>
            <a:ext cx="16383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6755" y="9482882"/>
            <a:ext cx="1687449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Combined impact — addressing these three priorities could protect </a:t>
            </a:r>
            <a:r>
              <a:rPr lang="en-US" sz="2400" i="1" dirty="0">
                <a:solidFill>
                  <a:srgbClr val="C841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$400K+ </a:t>
            </a:r>
            <a:r>
              <a:rPr lang="en-US" sz="2400" i="1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 annual recurring revenue.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75205" cy="10287000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83123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728788"/>
            <a:ext cx="8312311" cy="3571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0" kern="0" spc="-600" dirty="0">
                <a:solidFill>
                  <a:srgbClr val="F2EFE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15000" i="1" kern="0" spc="-600" dirty="0">
                <a:solidFill>
                  <a:srgbClr val="F2EF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you.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52500" y="8298359"/>
            <a:ext cx="8312311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50" kern="0" spc="99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ADEWALE ODOFFIN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1650" kern="0" spc="99" dirty="0">
                <a:solidFill>
                  <a:srgbClr val="B8B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&amp; BUSINESS ANALYST · APRIL 2026 PUBLIC.TABLEAU.COM/APP/PROFILE/HABEEB.ODOFFIN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27705" y="2000845"/>
            <a:ext cx="659995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METHODOLOGY &amp; APPENDIX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27705" y="3544788"/>
            <a:ext cx="640772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27705" y="2819995"/>
            <a:ext cx="19812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61305" y="2796183"/>
            <a:ext cx="4402344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6,687 customers · 29 variables · </a:t>
            </a:r>
            <a:r>
              <a:rPr lang="en-US" sz="1650" i="1" dirty="0">
                <a:solidFill>
                  <a:srgbClr val="18161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Databel Telecom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927705" y="4674394"/>
            <a:ext cx="640772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27705" y="3959126"/>
            <a:ext cx="19812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61305" y="3935313"/>
            <a:ext cx="440234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Tableau Public — interactive dashboard with filter actions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927705" y="5803999"/>
            <a:ext cx="640772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27705" y="5088731"/>
            <a:ext cx="19812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 FIELDS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061305" y="5064919"/>
            <a:ext cx="440234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Rate · Revenue at Risk · Avg Charge (Churned) · Age Group bins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927705" y="6933605"/>
            <a:ext cx="640772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27705" y="6218337"/>
            <a:ext cx="19812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061305" y="6194524"/>
            <a:ext cx="440234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816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Churn segmentation · revenue impact quantification · geographic analysis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0927705" y="8276630"/>
            <a:ext cx="6407721" cy="9525"/>
          </a:xfrm>
          <a:prstGeom prst="rect">
            <a:avLst/>
          </a:prstGeom>
          <a:solidFill>
            <a:srgbClr val="1816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27705" y="7328892"/>
            <a:ext cx="19812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061305" y="7324130"/>
            <a:ext cx="44023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1816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public.tableau.com/app/profile/habeeb.odoffin/viz/ChurnAnalysis_17747175850900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1166</Words>
  <Application>Microsoft Macintosh PowerPoint</Application>
  <PresentationFormat>Custom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Geist</vt:lpstr>
      <vt:lpstr>Instrument Serif</vt:lpstr>
      <vt:lpstr>JetBrains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Adewale Odoffin</cp:lastModifiedBy>
  <cp:revision>6</cp:revision>
  <dcterms:created xsi:type="dcterms:W3CDTF">2026-05-12T01:15:49Z</dcterms:created>
  <dcterms:modified xsi:type="dcterms:W3CDTF">2026-05-12T01:53:30Z</dcterms:modified>
</cp:coreProperties>
</file>